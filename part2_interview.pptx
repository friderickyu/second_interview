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1" autoAdjust="0"/>
    <p:restoredTop sz="94679" autoAdjust="0"/>
  </p:normalViewPr>
  <p:slideViewPr>
    <p:cSldViewPr snapToGrid="0">
      <p:cViewPr varScale="1">
        <p:scale>
          <a:sx n="150" d="100"/>
          <a:sy n="150" d="100"/>
        </p:scale>
        <p:origin x="2646" y="12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2025/10/21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18276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2025/10/21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86539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2025/10/21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21841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2025/10/21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58257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2025/10/21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1170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2025/10/21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44060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2025/10/21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5230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2025/10/21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47583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2025/10/21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78056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2025/10/21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87177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2025/10/21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55014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2025/10/21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30940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22B38BA6-A601-27C9-AF2A-CCDBC2D0C916}"/>
              </a:ext>
            </a:extLst>
          </p:cNvPr>
          <p:cNvSpPr txBox="1"/>
          <p:nvPr/>
        </p:nvSpPr>
        <p:spPr>
          <a:xfrm>
            <a:off x="144379" y="72189"/>
            <a:ext cx="209349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Motivation</a:t>
            </a:r>
            <a:endParaRPr lang="zh-CN" altLang="en-US" sz="320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CE425BB-ABC1-DB6A-7501-8255CC7F37CF}"/>
              </a:ext>
            </a:extLst>
          </p:cNvPr>
          <p:cNvSpPr txBox="1"/>
          <p:nvPr/>
        </p:nvSpPr>
        <p:spPr>
          <a:xfrm>
            <a:off x="709863" y="888820"/>
            <a:ext cx="460207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Traditional: Dense Vector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Query: one vector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Doc: several chunks</a:t>
            </a:r>
          </a:p>
          <a:p>
            <a:endParaRPr lang="en-US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Really not good at multi-hop</a:t>
            </a:r>
          </a:p>
          <a:p>
            <a:r>
              <a:rPr lang="en-US" altLang="zh-CN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Context Length</a:t>
            </a:r>
          </a:p>
          <a:p>
            <a:r>
              <a:rPr lang="en-US" altLang="zh-CN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Cost on index &amp; Time Consuming</a:t>
            </a:r>
          </a:p>
          <a:p>
            <a:endParaRPr lang="en-US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CN" sz="1600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7FE5ACC-9BB1-38D4-AD16-7B1C85A1356C}"/>
              </a:ext>
            </a:extLst>
          </p:cNvPr>
          <p:cNvSpPr txBox="1"/>
          <p:nvPr/>
        </p:nvSpPr>
        <p:spPr>
          <a:xfrm>
            <a:off x="6890584" y="804249"/>
            <a:ext cx="4602079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Early: 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ColBERT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ColPali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MVR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Token-level &amp; Patch-level</a:t>
            </a:r>
          </a:p>
          <a:p>
            <a:endParaRPr lang="en-US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Precise</a:t>
            </a:r>
          </a:p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Multimodal-transferable</a:t>
            </a:r>
          </a:p>
          <a:p>
            <a:endParaRPr lang="en-US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Too Finer: Victoria Hong Kong has many what types of building?</a:t>
            </a:r>
          </a:p>
          <a:p>
            <a:endParaRPr lang="en-US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600" dirty="0"/>
              <a:t>                  </a:t>
            </a:r>
          </a:p>
        </p:txBody>
      </p:sp>
      <p:graphicFrame>
        <p:nvGraphicFramePr>
          <p:cNvPr id="19" name="表格 18">
            <a:extLst>
              <a:ext uri="{FF2B5EF4-FFF2-40B4-BE49-F238E27FC236}">
                <a16:creationId xmlns:a16="http://schemas.microsoft.com/office/drawing/2014/main" id="{CC74A14D-0C52-3E9F-90DB-91983E4AFE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4932431"/>
              </p:ext>
            </p:extLst>
          </p:nvPr>
        </p:nvGraphicFramePr>
        <p:xfrm>
          <a:off x="2411659" y="5088422"/>
          <a:ext cx="8308476" cy="1289402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077119">
                  <a:extLst>
                    <a:ext uri="{9D8B030D-6E8A-4147-A177-3AD203B41FA5}">
                      <a16:colId xmlns:a16="http://schemas.microsoft.com/office/drawing/2014/main" val="3548059069"/>
                    </a:ext>
                  </a:extLst>
                </a:gridCol>
                <a:gridCol w="2077119">
                  <a:extLst>
                    <a:ext uri="{9D8B030D-6E8A-4147-A177-3AD203B41FA5}">
                      <a16:colId xmlns:a16="http://schemas.microsoft.com/office/drawing/2014/main" val="3733937304"/>
                    </a:ext>
                  </a:extLst>
                </a:gridCol>
                <a:gridCol w="2077119">
                  <a:extLst>
                    <a:ext uri="{9D8B030D-6E8A-4147-A177-3AD203B41FA5}">
                      <a16:colId xmlns:a16="http://schemas.microsoft.com/office/drawing/2014/main" val="2002789090"/>
                    </a:ext>
                  </a:extLst>
                </a:gridCol>
                <a:gridCol w="2077119">
                  <a:extLst>
                    <a:ext uri="{9D8B030D-6E8A-4147-A177-3AD203B41FA5}">
                      <a16:colId xmlns:a16="http://schemas.microsoft.com/office/drawing/2014/main" val="1833069279"/>
                    </a:ext>
                  </a:extLst>
                </a:gridCol>
              </a:tblGrid>
              <a:tr h="499828">
                <a:tc>
                  <a:txBody>
                    <a:bodyPr/>
                    <a:lstStyle/>
                    <a:p>
                      <a:r>
                        <a:rPr lang="en-US" altLang="zh-C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How to Decompose</a:t>
                      </a:r>
                      <a:endParaRPr lang="zh-CN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Non-differentiable</a:t>
                      </a:r>
                      <a:endParaRPr lang="zh-CN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KELDaR</a:t>
                      </a:r>
                      <a:endParaRPr lang="zh-CN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Query Decomposer</a:t>
                      </a:r>
                      <a:endParaRPr lang="zh-CN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zh-CN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816289"/>
                  </a:ext>
                </a:extLst>
              </a:tr>
              <a:tr h="710282">
                <a:tc>
                  <a:txBody>
                    <a:bodyPr/>
                    <a:lstStyle/>
                    <a:p>
                      <a:r>
                        <a:rPr lang="en-US" altLang="zh-C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How to eval</a:t>
                      </a:r>
                      <a:endParaRPr lang="zh-CN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Expensive</a:t>
                      </a:r>
                      <a:endParaRPr lang="zh-CN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LLM-Optimizer</a:t>
                      </a:r>
                    </a:p>
                    <a:p>
                      <a:r>
                        <a:rPr lang="en-US" altLang="zh-C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Training Algorithm</a:t>
                      </a:r>
                      <a:endParaRPr lang="zh-CN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Performance-Oriented</a:t>
                      </a:r>
                      <a:endParaRPr lang="zh-CN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zh-CN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5120493"/>
                  </a:ext>
                </a:extLst>
              </a:tr>
            </a:tbl>
          </a:graphicData>
        </a:graphic>
      </p:graphicFrame>
      <p:sp>
        <p:nvSpPr>
          <p:cNvPr id="20" name="文本框 19">
            <a:extLst>
              <a:ext uri="{FF2B5EF4-FFF2-40B4-BE49-F238E27FC236}">
                <a16:creationId xmlns:a16="http://schemas.microsoft.com/office/drawing/2014/main" id="{15A466D4-2D4F-3595-12D0-A58332E61701}"/>
              </a:ext>
            </a:extLst>
          </p:cNvPr>
          <p:cNvSpPr txBox="1"/>
          <p:nvPr/>
        </p:nvSpPr>
        <p:spPr>
          <a:xfrm>
            <a:off x="3804986" y="3857945"/>
            <a:ext cx="26329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Perhaps coarser? phrases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左大括号 20">
            <a:extLst>
              <a:ext uri="{FF2B5EF4-FFF2-40B4-BE49-F238E27FC236}">
                <a16:creationId xmlns:a16="http://schemas.microsoft.com/office/drawing/2014/main" id="{8C361ED4-FF5A-E645-D691-C4E39BB5D0CE}"/>
              </a:ext>
            </a:extLst>
          </p:cNvPr>
          <p:cNvSpPr/>
          <p:nvPr/>
        </p:nvSpPr>
        <p:spPr>
          <a:xfrm>
            <a:off x="6694571" y="3459080"/>
            <a:ext cx="336884" cy="1167063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762ABCC-2602-1F76-4DB5-1534156CCD92}"/>
              </a:ext>
            </a:extLst>
          </p:cNvPr>
          <p:cNvSpPr txBox="1"/>
          <p:nvPr/>
        </p:nvSpPr>
        <p:spPr>
          <a:xfrm>
            <a:off x="7207416" y="3289803"/>
            <a:ext cx="2075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Victoria Hong Kong</a:t>
            </a:r>
            <a:endParaRPr lang="zh-CN" altLang="en-US" sz="16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DFB6974B-4281-A23D-FC7B-AE6D7B91C2BD}"/>
              </a:ext>
            </a:extLst>
          </p:cNvPr>
          <p:cNvSpPr txBox="1"/>
          <p:nvPr/>
        </p:nvSpPr>
        <p:spPr>
          <a:xfrm>
            <a:off x="7207416" y="4403694"/>
            <a:ext cx="2075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buildings</a:t>
            </a:r>
            <a:endParaRPr lang="zh-CN" altLang="en-US" sz="16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60911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 animBg="1"/>
      <p:bldP spid="22" grpId="0"/>
      <p:bldP spid="2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B7B886-6BBC-E500-D3B2-E102802518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B8899CBF-8134-C352-97B9-92EC4AF1CADB}"/>
              </a:ext>
            </a:extLst>
          </p:cNvPr>
          <p:cNvSpPr txBox="1"/>
          <p:nvPr/>
        </p:nvSpPr>
        <p:spPr>
          <a:xfrm>
            <a:off x="144379" y="72189"/>
            <a:ext cx="209349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Approach</a:t>
            </a:r>
            <a:endParaRPr lang="zh-CN" altLang="en-US" sz="320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0BDB9435-59A2-BF65-7C50-55E4B9268602}"/>
              </a:ext>
            </a:extLst>
          </p:cNvPr>
          <p:cNvSpPr txBox="1"/>
          <p:nvPr/>
        </p:nvSpPr>
        <p:spPr>
          <a:xfrm>
            <a:off x="555458" y="2505669"/>
            <a:ext cx="5540542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Sub-queries relies on </a:t>
            </a:r>
            <a:r>
              <a:rPr lang="en-US" altLang="zh-CN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prompt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altLang="zh-CN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parameters</a:t>
            </a:r>
          </a:p>
          <a:p>
            <a:endParaRPr lang="en-US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Sub-queries cannot be differentiated</a:t>
            </a:r>
          </a:p>
          <a:p>
            <a:endParaRPr lang="en-US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model’s parameters: </a:t>
            </a:r>
            <a:r>
              <a:rPr lang="el-GR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θ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l-GR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β</a:t>
            </a:r>
            <a:endParaRPr lang="en-US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End2end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1" name="图片 30">
            <a:extLst>
              <a:ext uri="{FF2B5EF4-FFF2-40B4-BE49-F238E27FC236}">
                <a16:creationId xmlns:a16="http://schemas.microsoft.com/office/drawing/2014/main" id="{76255923-7A7A-1776-3CAC-78E3C555AF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4207" y="1662112"/>
            <a:ext cx="3305175" cy="3533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5749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928356-976D-FB52-C3D8-574EC91292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D0CDABF7-9A4F-3EE0-5187-7195C735C6CF}"/>
                  </a:ext>
                </a:extLst>
              </p:cNvPr>
              <p:cNvSpPr/>
              <p:nvPr/>
            </p:nvSpPr>
            <p:spPr>
              <a:xfrm>
                <a:off x="234617" y="3625314"/>
                <a:ext cx="5660856" cy="1704881"/>
              </a:xfrm>
              <a:prstGeom prst="rect">
                <a:avLst/>
              </a:prstGeom>
              <a:ln/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342900" indent="-342900">
                  <a:buAutoNum type="arabicPeriod"/>
                </a:pPr>
                <a:endParaRPr lang="en-US" altLang="zh-CN" i="1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342900" indent="-342900">
                  <a:buAutoNum type="arabicPeriod"/>
                </a:pP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𝐿𝑆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=[(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𝑝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𝑜𝑙𝑑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zh-CN" alt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𝜁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l-GR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Θ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;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𝑝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𝑜𝑙𝑑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))]</m:t>
                    </m:r>
                  </m:oMath>
                </a14:m>
                <a:endParaRPr lang="en-US" altLang="zh-CN" i="1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342900" indent="-342900">
                  <a:buAutoNum type="arabicPeriod"/>
                </a:pP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𝑂𝑝𝑡𝑖𝑚𝑖𝑧𝑒𝑟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(2×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𝑚𝑒𝑡𝑎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𝑝𝑟𝑜𝑚𝑝𝑡𝑠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𝑐𝑢𝑟𝑟𝑒𝑛𝑡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𝐿𝑆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→ 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indent="-342900">
                  <a:buAutoNum type="arabi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𝑡𝑎𝑠𝑘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𝑑𝑒𝑠𝑐𝑟𝑖𝑝𝑡𝑖𝑜𝑛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𝑞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𝑝</m:t>
                    </m:r>
                  </m:oMath>
                </a14:m>
                <a:endPara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indent="-342900">
                  <a:buAutoNum type="arabicPeriod"/>
                </a:pP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𝐷𝑒𝑐𝑜𝑚𝑝𝑜𝑠𝑒𝑟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𝑝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𝑞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→</m:t>
                    </m:r>
                    <m:sSup>
                      <m:sSupPr>
                        <m:ctrlPr>
                          <a:rPr lang="en-US" altLang="zh-CN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𝑞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𝑠𝑢𝑏</m:t>
                        </m:r>
                      </m:sup>
                    </m:sSup>
                  </m:oMath>
                </a14:m>
                <a:endParaRPr lang="en-US" altLang="zh-CN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342900" indent="-342900">
                  <a:buAutoNum type="arabicPeriod"/>
                </a:pP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𝑀𝑉𝑅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𝑝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→</m:t>
                    </m:r>
                    <m:r>
                      <a:rPr lang="zh-CN" alt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𝜁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l-GR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Θ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;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𝑝</m:t>
                        </m:r>
                      </m:e>
                    </m:d>
                  </m:oMath>
                </a14:m>
                <a:endParaRPr lang="en-US" altLang="zh-CN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342900" indent="-342900">
                  <a:buAutoNum type="arabicPeriod"/>
                </a:pP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𝐿𝑆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𝑎𝑝𝑝𝑒𝑛𝑑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zh-CN" alt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𝜁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l-GR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Θ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;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𝑝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algn="ctr"/>
                <a:endParaRPr lang="zh-CN" altLang="en-US" dirty="0"/>
              </a:p>
            </p:txBody>
          </p:sp>
        </mc:Choice>
        <mc:Fallback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D0CDABF7-9A4F-3EE0-5187-7195C735C6C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617" y="3625314"/>
                <a:ext cx="5660856" cy="1704881"/>
              </a:xfrm>
              <a:prstGeom prst="rect">
                <a:avLst/>
              </a:prstGeom>
              <a:blipFill>
                <a:blip r:embed="rId2"/>
                <a:stretch>
                  <a:fillRect l="-753" t="-2500" b="-6071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文本框 5">
            <a:extLst>
              <a:ext uri="{FF2B5EF4-FFF2-40B4-BE49-F238E27FC236}">
                <a16:creationId xmlns:a16="http://schemas.microsoft.com/office/drawing/2014/main" id="{01992247-DEF3-0FE7-D753-EC3F5AF3B673}"/>
              </a:ext>
            </a:extLst>
          </p:cNvPr>
          <p:cNvSpPr txBox="1"/>
          <p:nvPr/>
        </p:nvSpPr>
        <p:spPr>
          <a:xfrm>
            <a:off x="144379" y="72189"/>
            <a:ext cx="1047950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Approach</a:t>
            </a:r>
            <a:endParaRPr lang="zh-CN" altLang="en-US" sz="320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08BD0D1D-1929-F42C-A795-2014B12175A9}"/>
                  </a:ext>
                </a:extLst>
              </p:cNvPr>
              <p:cNvSpPr txBox="1"/>
              <p:nvPr/>
            </p:nvSpPr>
            <p:spPr>
              <a:xfrm>
                <a:off x="234617" y="1466015"/>
                <a:ext cx="4590046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Goal: </a:t>
                </a:r>
                <a:r>
                  <a:rPr lang="en-US" altLang="zh-CN" sz="16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generate&amp;re-eval</a:t>
                </a:r>
                <a:endParaRPr lang="en-US" altLang="zh-CN" sz="16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C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Given the fixed </a:t>
                </a:r>
                <a:r>
                  <a:rPr lang="el-GR" altLang="zh-C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Θ</a:t>
                </a:r>
                <a:r>
                  <a:rPr lang="en-US" altLang="zh-C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generate new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 construct 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𝑝</m:t>
                    </m:r>
                  </m:oMath>
                </a14:m>
                <a:endParaRPr lang="en-US" altLang="zh-CN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C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Decompose to sub-queries and compute loss</a:t>
                </a:r>
                <a:endParaRPr lang="zh-CN" alt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08BD0D1D-1929-F42C-A795-2014B12175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617" y="1466015"/>
                <a:ext cx="4590046" cy="830997"/>
              </a:xfrm>
              <a:prstGeom prst="rect">
                <a:avLst/>
              </a:prstGeom>
              <a:blipFill>
                <a:blip r:embed="rId3"/>
                <a:stretch>
                  <a:fillRect l="-664" t="-2190" b="-80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024F6119-8C09-1971-C579-9CD30A35CC9D}"/>
                  </a:ext>
                </a:extLst>
              </p:cNvPr>
              <p:cNvSpPr txBox="1"/>
              <p:nvPr/>
            </p:nvSpPr>
            <p:spPr>
              <a:xfrm>
                <a:off x="234617" y="2564895"/>
                <a:ext cx="4590046" cy="8390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Input: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𝑄</m:t>
                        </m:r>
                      </m:e>
                      <m:sup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𝑡𝑟𝑎𝑖𝑛</m:t>
                        </m:r>
                      </m:sup>
                    </m:sSup>
                  </m:oMath>
                </a14:m>
                <a:r>
                  <a:rPr lang="en-US" altLang="zh-C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fixed </a:t>
                </a:r>
                <a:r>
                  <a:rPr lang="el-GR" altLang="zh-C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Θ</a:t>
                </a:r>
                <a:r>
                  <a:rPr lang="en-US" altLang="zh-C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𝑝</m:t>
                        </m:r>
                      </m:e>
                      <m:sup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𝑜𝑙𝑑</m:t>
                        </m:r>
                      </m:sup>
                    </m:sSup>
                  </m:oMath>
                </a14:m>
                <a:endParaRPr lang="en-US" altLang="zh-CN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C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Output: new prompt and its sub-queries</a:t>
                </a:r>
              </a:p>
              <a:p>
                <a:r>
                  <a:rPr lang="en-US" altLang="zh-C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Data Structure: list(solution-score pairs)</a:t>
                </a:r>
              </a:p>
            </p:txBody>
          </p:sp>
        </mc:Choice>
        <mc:Fallback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024F6119-8C09-1971-C579-9CD30A35CC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617" y="2564895"/>
                <a:ext cx="4590046" cy="839012"/>
              </a:xfrm>
              <a:prstGeom prst="rect">
                <a:avLst/>
              </a:prstGeom>
              <a:blipFill>
                <a:blip r:embed="rId4"/>
                <a:stretch>
                  <a:fillRect l="-664" t="-730" b="-875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文本框 11">
            <a:extLst>
              <a:ext uri="{FF2B5EF4-FFF2-40B4-BE49-F238E27FC236}">
                <a16:creationId xmlns:a16="http://schemas.microsoft.com/office/drawing/2014/main" id="{D9E8E802-A82D-CF6E-C4F6-D2089F23686F}"/>
              </a:ext>
            </a:extLst>
          </p:cNvPr>
          <p:cNvSpPr txBox="1"/>
          <p:nvPr/>
        </p:nvSpPr>
        <p:spPr>
          <a:xfrm>
            <a:off x="5624763" y="2965784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BD0B01CC-ACBD-F221-EC3B-6141CDD68A24}"/>
                  </a:ext>
                </a:extLst>
              </p:cNvPr>
              <p:cNvSpPr txBox="1"/>
              <p:nvPr/>
            </p:nvSpPr>
            <p:spPr>
              <a:xfrm>
                <a:off x="234617" y="5712727"/>
                <a:ext cx="566085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6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End condition: </a:t>
                </a:r>
                <a14:m>
                  <m:oMath xmlns:m="http://schemas.openxmlformats.org/officeDocument/2006/math">
                    <m:r>
                      <a:rPr lang="zh-CN" altLang="en-US" sz="16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𝜁</m:t>
                    </m:r>
                    <m:d>
                      <m:dPr>
                        <m:ctrlPr>
                          <a:rPr lang="en-US" altLang="zh-CN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l-GR" altLang="zh-CN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Θ</m:t>
                        </m:r>
                        <m:r>
                          <a:rPr lang="en-US" altLang="zh-CN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;</m:t>
                        </m:r>
                        <m:r>
                          <a:rPr lang="en-US" altLang="zh-CN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𝑝</m:t>
                        </m:r>
                      </m:e>
                    </m:d>
                    <m:r>
                      <a:rPr lang="en-US" altLang="zh-CN" sz="16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zh-CN" altLang="en-US" sz="16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𝜁</m:t>
                    </m:r>
                    <m:d>
                      <m:dPr>
                        <m:ctrlPr>
                          <a:rPr lang="en-US" altLang="zh-CN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l-GR" altLang="zh-CN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Θ</m:t>
                        </m:r>
                        <m:r>
                          <a:rPr lang="en-US" altLang="zh-CN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;</m:t>
                        </m:r>
                        <m:sSub>
                          <m:sSubPr>
                            <m:ctrlPr>
                              <a:rPr lang="en-US" altLang="zh-CN" sz="160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𝑜𝑙𝑑</m:t>
                            </m:r>
                          </m:sub>
                        </m:sSub>
                      </m:e>
                    </m:d>
                    <m:r>
                      <a:rPr lang="en-US" altLang="zh-CN" sz="16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zh-CN" altLang="en-US" sz="16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𝛼</m:t>
                    </m:r>
                    <m:r>
                      <a:rPr lang="en-US" altLang="zh-CN" sz="16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CN" sz="16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𝑂𝑅</m:t>
                    </m:r>
                    <m:r>
                      <a:rPr lang="en-US" altLang="zh-CN" sz="16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CN" sz="16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𝑘</m:t>
                    </m:r>
                    <m:r>
                      <a:rPr lang="en-US" altLang="zh-CN" sz="16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CN" sz="16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𝑡𝑖𝑚𝑒𝑠</m:t>
                    </m:r>
                  </m:oMath>
                </a14:m>
                <a:endParaRPr lang="zh-CN" altLang="en-US" sz="16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BD0B01CC-ACBD-F221-EC3B-6141CDD68A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617" y="5712727"/>
                <a:ext cx="5660856" cy="338554"/>
              </a:xfrm>
              <a:prstGeom prst="rect">
                <a:avLst/>
              </a:prstGeom>
              <a:blipFill>
                <a:blip r:embed="rId5"/>
                <a:stretch>
                  <a:fillRect l="-538" t="-5357" b="-214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文本框 13">
            <a:extLst>
              <a:ext uri="{FF2B5EF4-FFF2-40B4-BE49-F238E27FC236}">
                <a16:creationId xmlns:a16="http://schemas.microsoft.com/office/drawing/2014/main" id="{D37DC903-A255-176C-2F62-758525057673}"/>
              </a:ext>
            </a:extLst>
          </p:cNvPr>
          <p:cNvSpPr txBox="1"/>
          <p:nvPr/>
        </p:nvSpPr>
        <p:spPr>
          <a:xfrm>
            <a:off x="234617" y="1004637"/>
            <a:ext cx="428324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 1</a:t>
            </a:r>
            <a:endParaRPr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D390FECE-55A2-A498-60CF-CF1E987955AE}"/>
              </a:ext>
            </a:extLst>
          </p:cNvPr>
          <p:cNvSpPr txBox="1"/>
          <p:nvPr/>
        </p:nvSpPr>
        <p:spPr>
          <a:xfrm>
            <a:off x="6745375" y="1004637"/>
            <a:ext cx="428324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 2</a:t>
            </a:r>
            <a:endParaRPr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68259553-A621-5150-1B91-A9C15426B2AB}"/>
              </a:ext>
            </a:extLst>
          </p:cNvPr>
          <p:cNvSpPr txBox="1"/>
          <p:nvPr/>
        </p:nvSpPr>
        <p:spPr>
          <a:xfrm>
            <a:off x="6745375" y="1529236"/>
            <a:ext cx="467493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Goal: </a:t>
            </a:r>
            <a:r>
              <a:rPr lang="en-US" altLang="zh-CN" sz="16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alternation&amp;incremental</a:t>
            </a:r>
            <a:r>
              <a:rPr lang="en-US" altLang="zh-CN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training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Joint Optimization among prompt and </a:t>
            </a:r>
            <a:r>
              <a:rPr lang="el-GR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Θ</a:t>
            </a:r>
            <a:endParaRPr lang="en-US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 model to generate better in the downstream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BF885B9E-9340-7A72-F1FB-89B26F7930E8}"/>
                  </a:ext>
                </a:extLst>
              </p:cNvPr>
              <p:cNvSpPr txBox="1"/>
              <p:nvPr/>
            </p:nvSpPr>
            <p:spPr>
              <a:xfrm>
                <a:off x="6745375" y="2564895"/>
                <a:ext cx="4590046" cy="59279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Input: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𝑄</m:t>
                        </m:r>
                      </m:e>
                      <m:sup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𝑡𝑟𝑎𝑖𝑛</m:t>
                        </m:r>
                      </m:sup>
                    </m:sSup>
                  </m:oMath>
                </a14:m>
                <a:r>
                  <a:rPr lang="en-US" altLang="zh-C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generator </a:t>
                </a:r>
                <a:r>
                  <a:rPr lang="el-GR" altLang="zh-C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θ</a:t>
                </a:r>
                <a:r>
                  <a:rPr lang="en-US" altLang="zh-C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𝑝</m:t>
                        </m:r>
                      </m:e>
                      <m:sup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𝑜𝑙𝑑</m:t>
                        </m:r>
                      </m:sup>
                    </m:sSup>
                  </m:oMath>
                </a14:m>
                <a:endParaRPr lang="en-US" altLang="zh-CN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C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Output: new prompt and convergence </a:t>
                </a:r>
                <a:r>
                  <a:rPr lang="el-GR" altLang="zh-C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θ</a:t>
                </a:r>
              </a:p>
            </p:txBody>
          </p:sp>
        </mc:Choice>
        <mc:Fallback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BF885B9E-9340-7A72-F1FB-89B26F7930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45375" y="2564895"/>
                <a:ext cx="4590046" cy="592791"/>
              </a:xfrm>
              <a:prstGeom prst="rect">
                <a:avLst/>
              </a:prstGeom>
              <a:blipFill>
                <a:blip r:embed="rId6"/>
                <a:stretch>
                  <a:fillRect l="-798" t="-1031" b="-123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矩形 20">
                <a:extLst>
                  <a:ext uri="{FF2B5EF4-FFF2-40B4-BE49-F238E27FC236}">
                    <a16:creationId xmlns:a16="http://schemas.microsoft.com/office/drawing/2014/main" id="{DDA17FF6-8805-371D-9E8A-1E1FF8C2ACA7}"/>
                  </a:ext>
                </a:extLst>
              </p:cNvPr>
              <p:cNvSpPr/>
              <p:nvPr/>
            </p:nvSpPr>
            <p:spPr>
              <a:xfrm>
                <a:off x="6302210" y="3625314"/>
                <a:ext cx="5660856" cy="1704881"/>
              </a:xfrm>
              <a:prstGeom prst="rect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342900" indent="-342900">
                  <a:buAutoNum type="arabicPeriod"/>
                </a:pP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𝐴𝑙𝑔𝑜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𝑝</m:t>
                            </m:r>
                          </m:e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𝑜𝑙𝑑</m:t>
                            </m:r>
                          </m:sup>
                        </m:sSup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𝑞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→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𝑝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𝑛𝑒𝑤</m:t>
                        </m:r>
                      </m:sup>
                    </m:sSup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∧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𝑞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𝑠𝑢𝑏</m:t>
                        </m:r>
                      </m:sup>
                    </m:sSup>
                  </m:oMath>
                </a14:m>
                <a:endParaRPr lang="en-US" altLang="zh-CN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342900" indent="-342900">
                  <a:buAutoNum type="arabicPeriod"/>
                </a:pP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𝑝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𝑛𝑒𝑤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==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𝑝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𝑜𝑙𝑑</m:t>
                        </m:r>
                      </m:sup>
                    </m:sSup>
                  </m:oMath>
                </a14:m>
                <a:r>
                  <a:rPr lang="en-US" altLang="zh-CN" b="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,break</a:t>
                </a:r>
              </a:p>
              <a:p>
                <a:pPr marL="342900" indent="-342900">
                  <a:buAutoNum type="arabicPeriod"/>
                </a:pPr>
                <a:r>
                  <a:rPr lang="en-US" altLang="zh-CN" b="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Using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𝑞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𝑠𝑢𝑏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𝑡𝑜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𝑡𝑟𝑎𝑖𝑛</m:t>
                    </m:r>
                    <m:r>
                      <m:rPr>
                        <m:nor/>
                      </m:rPr>
                      <a:rPr lang="en-US" altLang="zh-CN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l-GR" altLang="zh-CN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θ</m:t>
                    </m:r>
                    <m:r>
                      <m:rPr>
                        <m:nor/>
                      </m:rPr>
                      <a:rPr lang="en-US" altLang="zh-CN" b="0" i="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altLang="zh-CN" b="0" i="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for</m:t>
                    </m:r>
                    <m:r>
                      <m:rPr>
                        <m:nor/>
                      </m:rPr>
                      <a:rPr lang="en-US" altLang="zh-CN" b="0" i="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l-GR" altLang="zh-CN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τ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𝑒𝑝𝑜𝑐h𝑠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→</m:t>
                    </m:r>
                    <m:func>
                      <m:func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b="0" i="0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min</m:t>
                        </m:r>
                      </m:fName>
                      <m:e>
                        <m:d>
                          <m:dPr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𝑙𝑜𝑠𝑠</m:t>
                            </m:r>
                          </m:e>
                        </m:d>
                      </m:e>
                    </m:func>
                  </m:oMath>
                </a14:m>
                <a:endParaRPr lang="en-US" altLang="zh-CN" b="0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342900" indent="-342900">
                  <a:buAutoNum type="arabicPeriod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𝑝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𝑛𝑒𝑤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𝑝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𝑜𝑙𝑑</m:t>
                        </m:r>
                      </m:sup>
                    </m:sSup>
                  </m:oMath>
                </a14:m>
                <a:endParaRPr lang="en-US" altLang="zh-CN" b="0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342900" indent="-342900">
                  <a:buAutoNum type="arabicPeriod"/>
                </a:pPr>
                <a:r>
                  <a:rPr lang="en-US" altLang="zh-CN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Continue to train </a:t>
                </a:r>
                <a:r>
                  <a:rPr lang="el-GR" altLang="zh-CN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θ</a:t>
                </a:r>
                <a:r>
                  <a:rPr lang="en-US" altLang="zh-CN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until convergence</a:t>
                </a:r>
                <a:endParaRPr lang="en-US" altLang="zh-CN" b="0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1" name="矩形 20">
                <a:extLst>
                  <a:ext uri="{FF2B5EF4-FFF2-40B4-BE49-F238E27FC236}">
                    <a16:creationId xmlns:a16="http://schemas.microsoft.com/office/drawing/2014/main" id="{DDA17FF6-8805-371D-9E8A-1E1FF8C2ACA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2210" y="3625314"/>
                <a:ext cx="5660856" cy="1704881"/>
              </a:xfrm>
              <a:prstGeom prst="rect">
                <a:avLst/>
              </a:prstGeom>
              <a:blipFill>
                <a:blip r:embed="rId7"/>
                <a:stretch>
                  <a:fillRect l="-861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8F017B0E-D851-28CB-066C-CF37C8B927E6}"/>
                  </a:ext>
                </a:extLst>
              </p:cNvPr>
              <p:cNvSpPr txBox="1"/>
              <p:nvPr/>
            </p:nvSpPr>
            <p:spPr>
              <a:xfrm>
                <a:off x="6302210" y="5708302"/>
                <a:ext cx="5660856" cy="3429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6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End condition: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1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US" altLang="zh-CN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𝑝</m:t>
                        </m:r>
                      </m:e>
                      <m:sup>
                        <m:r>
                          <a:rPr lang="en-US" altLang="zh-CN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𝑛𝑒𝑤</m:t>
                        </m:r>
                      </m:sup>
                    </m:sSup>
                    <m:r>
                      <a:rPr lang="en-US" altLang="zh-CN" sz="16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==</m:t>
                    </m:r>
                    <m:sSup>
                      <m:sSupPr>
                        <m:ctrlPr>
                          <a:rPr lang="en-US" altLang="zh-CN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𝑝</m:t>
                        </m:r>
                      </m:e>
                      <m:sup>
                        <m:r>
                          <a:rPr lang="en-US" altLang="zh-CN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𝑜𝑙𝑑</m:t>
                        </m:r>
                      </m:sup>
                    </m:sSup>
                  </m:oMath>
                </a14:m>
                <a:endParaRPr lang="zh-CN" altLang="en-US" sz="16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8F017B0E-D851-28CB-066C-CF37C8B927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2210" y="5708302"/>
                <a:ext cx="5660856" cy="342979"/>
              </a:xfrm>
              <a:prstGeom prst="rect">
                <a:avLst/>
              </a:prstGeom>
              <a:blipFill>
                <a:blip r:embed="rId8"/>
                <a:stretch>
                  <a:fillRect l="-647" t="-3509" b="-2105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889646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2" grpId="0"/>
      <p:bldP spid="3" grpId="0"/>
      <p:bldP spid="13" grpId="0"/>
      <p:bldP spid="16" grpId="0"/>
      <p:bldP spid="17" grpId="0"/>
      <p:bldP spid="21" grpId="0" animBg="1"/>
      <p:bldP spid="2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505F11-5C67-60AA-7BAF-712B8CF68D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37CCA0C0-F784-B24B-EB48-AC50EA3D5FBE}"/>
              </a:ext>
            </a:extLst>
          </p:cNvPr>
          <p:cNvSpPr txBox="1"/>
          <p:nvPr/>
        </p:nvSpPr>
        <p:spPr>
          <a:xfrm>
            <a:off x="144379" y="72189"/>
            <a:ext cx="209349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Approach</a:t>
            </a:r>
            <a:endParaRPr lang="zh-CN" altLang="en-US" sz="320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2052031E-40E8-4B82-0B45-C4B33C59A5FF}"/>
                  </a:ext>
                </a:extLst>
              </p:cNvPr>
              <p:cNvSpPr txBox="1"/>
              <p:nvPr/>
            </p:nvSpPr>
            <p:spPr>
              <a:xfrm>
                <a:off x="260350" y="1054100"/>
                <a:ext cx="5200650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Question 1: Why fix </a:t>
                </a:r>
                <a:r>
                  <a:rPr lang="el-GR" altLang="zh-CN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θ</a:t>
                </a:r>
                <a:r>
                  <a:rPr lang="en-US" altLang="zh-CN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in algorithm 1?</a:t>
                </a:r>
              </a:p>
              <a:p>
                <a:r>
                  <a:rPr lang="en-US" altLang="zh-C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Answer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C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Optimize prompt rather than model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C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Generalize to any frozen LLM for various diverse tasks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160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min</m:t>
                    </m:r>
                    <m:r>
                      <a:rPr lang="en-US" altLang="zh-CN" sz="16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⁡(</m:t>
                    </m:r>
                    <m:r>
                      <a:rPr lang="zh-CN" altLang="en-US" sz="16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𝜁</m:t>
                    </m:r>
                    <m:d>
                      <m:dPr>
                        <m:ctrlPr>
                          <a:rPr lang="en-US" altLang="zh-CN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l-GR" altLang="zh-CN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Θ</m:t>
                        </m:r>
                        <m:r>
                          <a:rPr lang="en-US" altLang="zh-CN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;</m:t>
                        </m:r>
                        <m:r>
                          <a:rPr lang="en-US" altLang="zh-CN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𝑝</m:t>
                        </m:r>
                      </m:e>
                    </m:d>
                    <m:r>
                      <a:rPr lang="en-US" altLang="zh-CN" sz="16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zh-CN" altLang="en-US" sz="16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𝜁</m:t>
                    </m:r>
                    <m:d>
                      <m:dPr>
                        <m:ctrlPr>
                          <a:rPr lang="en-US" altLang="zh-CN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l-GR" altLang="zh-CN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Θ</m:t>
                        </m:r>
                        <m:r>
                          <a:rPr lang="en-US" altLang="zh-CN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;</m:t>
                        </m:r>
                        <m:sSub>
                          <m:sSubPr>
                            <m:ctrlPr>
                              <a:rPr lang="en-US" altLang="zh-CN" sz="16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sz="16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𝑜𝑙𝑑</m:t>
                            </m:r>
                          </m:sub>
                        </m:sSub>
                      </m:e>
                    </m:d>
                    <m:r>
                      <a:rPr lang="en-US" altLang="zh-CN" sz="16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en-US" altLang="zh-CN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C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If </a:t>
                </a:r>
                <a:r>
                  <a:rPr lang="el-GR" altLang="zh-C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θ</a:t>
                </a:r>
                <a:r>
                  <a:rPr lang="en-US" altLang="zh-C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changes, improvement can’t be isolated from prompt</a:t>
                </a:r>
              </a:p>
            </p:txBody>
          </p:sp>
        </mc:Choice>
        <mc:Fallback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2052031E-40E8-4B82-0B45-C4B33C59A5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0350" y="1054100"/>
                <a:ext cx="5200650" cy="1569660"/>
              </a:xfrm>
              <a:prstGeom prst="rect">
                <a:avLst/>
              </a:prstGeom>
              <a:blipFill>
                <a:blip r:embed="rId2"/>
                <a:stretch>
                  <a:fillRect l="-703" t="-1167" b="-428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244697EF-F3EF-BEFA-3D98-D09C28A16D7E}"/>
                  </a:ext>
                </a:extLst>
              </p:cNvPr>
              <p:cNvSpPr txBox="1"/>
              <p:nvPr/>
            </p:nvSpPr>
            <p:spPr>
              <a:xfrm>
                <a:off x="5886450" y="1054100"/>
                <a:ext cx="6045200" cy="15740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Question 2: Why </a:t>
                </a:r>
                <a:r>
                  <a:rPr lang="el-GR" altLang="zh-CN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α</a:t>
                </a:r>
                <a:r>
                  <a:rPr lang="en-US" altLang="zh-CN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doesn’t guarantee decrease loss at convergence?</a:t>
                </a:r>
              </a:p>
              <a:p>
                <a:r>
                  <a:rPr lang="en-US" altLang="zh-C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Answer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l-GR" altLang="zh-C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α</a:t>
                </a:r>
                <a:r>
                  <a:rPr lang="en-US" altLang="zh-C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only guarantees loss decreases locally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𝑝</m:t>
                        </m:r>
                      </m:e>
                      <m:sup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𝑛𝑒𝑤</m:t>
                        </m:r>
                      </m:sup>
                    </m:sSup>
                  </m:oMath>
                </a14:m>
                <a:r>
                  <a:rPr lang="en-US" altLang="zh-C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may be good in few iterations, but until convergence, perhaps worse than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𝑝</m:t>
                        </m:r>
                      </m:e>
                      <m:sup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𝑜𝑙𝑑</m:t>
                        </m:r>
                      </m:sup>
                    </m:sSup>
                  </m:oMath>
                </a14:m>
                <a:endParaRPr lang="en-US" altLang="zh-CN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C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Set appropriate </a:t>
                </a:r>
                <a14:m>
                  <m:oMath xmlns:m="http://schemas.openxmlformats.org/officeDocument/2006/math">
                    <m:r>
                      <a:rPr lang="zh-CN" altLang="el-GR" sz="16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𝛼</m:t>
                    </m:r>
                  </m:oMath>
                </a14:m>
                <a:r>
                  <a:rPr lang="en-US" altLang="zh-C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zh-CN" altLang="en-US" sz="160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𝜅</m:t>
                    </m:r>
                  </m:oMath>
                </a14:m>
                <a:endParaRPr lang="en-US" altLang="zh-CN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244697EF-F3EF-BEFA-3D98-D09C28A16D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6450" y="1054100"/>
                <a:ext cx="6045200" cy="1574085"/>
              </a:xfrm>
              <a:prstGeom prst="rect">
                <a:avLst/>
              </a:prstGeom>
              <a:blipFill>
                <a:blip r:embed="rId3"/>
                <a:stretch>
                  <a:fillRect l="-605" t="-1163" r="-404" b="-426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5B2B315E-B4A3-BD80-C28B-ED776C222F73}"/>
                  </a:ext>
                </a:extLst>
              </p:cNvPr>
              <p:cNvSpPr txBox="1"/>
              <p:nvPr/>
            </p:nvSpPr>
            <p:spPr>
              <a:xfrm>
                <a:off x="260350" y="3663950"/>
                <a:ext cx="5397500" cy="14038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Question 3: Why train </a:t>
                </a:r>
                <a:r>
                  <a:rPr lang="el-GR" altLang="zh-CN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θ</a:t>
                </a:r>
                <a:r>
                  <a:rPr lang="en-US" altLang="zh-CN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with the fixed new prompt?</a:t>
                </a:r>
              </a:p>
              <a:p>
                <a:r>
                  <a:rPr lang="en-US" altLang="zh-C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Answer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C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Completely training </a:t>
                </a:r>
                <a:r>
                  <a:rPr lang="el-GR" altLang="zh-C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θ</a:t>
                </a:r>
                <a:r>
                  <a:rPr lang="en-US" altLang="zh-C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in each epoch is expensive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zh-CN" altLang="en-US" sz="16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𝜁</m:t>
                    </m:r>
                    <m:d>
                      <m:dPr>
                        <m:ctrlPr>
                          <a:rPr lang="en-US" altLang="zh-CN" sz="1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16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sz="16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𝜃</m:t>
                            </m:r>
                          </m:e>
                          <m:sup>
                            <m:r>
                              <a:rPr lang="en-US" altLang="zh-CN" sz="16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∗</m:t>
                            </m:r>
                          </m:sup>
                        </m:sSup>
                        <m:d>
                          <m:dPr>
                            <m:ctrlPr>
                              <a:rPr lang="en-US" altLang="zh-CN" sz="16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zh-CN" sz="16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16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𝑝</m:t>
                                </m:r>
                              </m:e>
                              <m:sup>
                                <m:r>
                                  <a:rPr lang="en-US" altLang="zh-CN" sz="16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𝑜𝑙𝑑</m:t>
                                </m:r>
                              </m:sup>
                            </m:sSup>
                          </m:e>
                        </m:d>
                        <m:r>
                          <a:rPr lang="en-US" altLang="zh-CN" sz="1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;</m:t>
                        </m:r>
                        <m:sSup>
                          <m:sSupPr>
                            <m:ctrlPr>
                              <a:rPr lang="en-US" altLang="zh-CN" sz="16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6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𝑝</m:t>
                            </m:r>
                          </m:e>
                          <m:sup>
                            <m:r>
                              <a:rPr lang="en-US" altLang="zh-CN" sz="16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𝑜𝑙𝑑</m:t>
                            </m:r>
                          </m:sup>
                        </m:sSup>
                      </m:e>
                    </m:d>
                    <m:r>
                      <a:rPr lang="en-US" altLang="zh-CN" sz="16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zh-CN" altLang="en-US" sz="16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𝜁</m:t>
                    </m:r>
                    <m:d>
                      <m:dPr>
                        <m:ctrlPr>
                          <a:rPr lang="en-US" altLang="zh-CN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16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sz="16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𝜃</m:t>
                            </m:r>
                          </m:e>
                          <m:sup>
                            <m:r>
                              <a:rPr lang="en-US" altLang="zh-CN" sz="16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∗</m:t>
                            </m:r>
                          </m:sup>
                        </m:sSup>
                        <m:d>
                          <m:dPr>
                            <m:ctrlPr>
                              <a:rPr lang="en-US" altLang="zh-CN" sz="16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zh-CN" sz="16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16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𝑝</m:t>
                                </m:r>
                              </m:e>
                              <m:sup>
                                <m:r>
                                  <a:rPr lang="en-US" altLang="zh-CN" sz="16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𝑛𝑒𝑤</m:t>
                                </m:r>
                              </m:sup>
                            </m:sSup>
                          </m:e>
                        </m:d>
                        <m:r>
                          <a:rPr lang="en-US" altLang="zh-CN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;</m:t>
                        </m:r>
                        <m:sSup>
                          <m:sSupPr>
                            <m:ctrlPr>
                              <a:rPr lang="en-US" altLang="zh-CN" sz="16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6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𝑝</m:t>
                            </m:r>
                          </m:e>
                          <m:sup>
                            <m:r>
                              <a:rPr lang="en-US" altLang="zh-CN" sz="16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𝑛𝑒𝑤</m:t>
                            </m:r>
                          </m:sup>
                        </m:sSup>
                      </m:e>
                    </m:d>
                    <m:r>
                      <a:rPr lang="en-US" altLang="zh-CN" sz="16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≥</m:t>
                    </m:r>
                    <m:r>
                      <a:rPr lang="zh-CN" altLang="en-US" sz="16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𝛼</m:t>
                    </m:r>
                    <m:r>
                      <a:rPr lang="en-US" altLang="zh-CN" sz="16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sSup>
                      <m:sSupPr>
                        <m:ctrlPr>
                          <a:rPr lang="en-US" altLang="zh-CN" sz="1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1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(1−</m:t>
                        </m:r>
                        <m:f>
                          <m:fPr>
                            <m:ctrlPr>
                              <a:rPr lang="en-US" altLang="zh-CN" sz="16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zh-CN" altLang="en-US" sz="16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𝜇</m:t>
                            </m:r>
                          </m:num>
                          <m:den>
                            <m:r>
                              <a:rPr lang="en-US" altLang="zh-CN" sz="16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  <m:r>
                              <a:rPr lang="en-US" altLang="zh-CN" sz="16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𝐿</m:t>
                            </m:r>
                          </m:den>
                        </m:f>
                        <m:r>
                          <a:rPr lang="en-US" altLang="zh-CN" sz="1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</m:e>
                      <m:sup>
                        <m:r>
                          <a:rPr lang="zh-CN" altLang="en-US" sz="1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𝜏</m:t>
                        </m:r>
                      </m:sup>
                    </m:sSup>
                    <m:r>
                      <a:rPr lang="en-US" altLang="zh-CN" sz="16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𝑀</m:t>
                    </m:r>
                  </m:oMath>
                </a14:m>
                <a:endParaRPr lang="en-US" altLang="zh-CN" sz="16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C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Incremental updates followed by final convergence training</a:t>
                </a:r>
              </a:p>
            </p:txBody>
          </p:sp>
        </mc:Choice>
        <mc:Fallback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5B2B315E-B4A3-BD80-C28B-ED776C222F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0350" y="3663950"/>
                <a:ext cx="5397500" cy="1403846"/>
              </a:xfrm>
              <a:prstGeom prst="rect">
                <a:avLst/>
              </a:prstGeom>
              <a:blipFill>
                <a:blip r:embed="rId4"/>
                <a:stretch>
                  <a:fillRect l="-678" t="-1304" b="-478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文本框 6">
            <a:extLst>
              <a:ext uri="{FF2B5EF4-FFF2-40B4-BE49-F238E27FC236}">
                <a16:creationId xmlns:a16="http://schemas.microsoft.com/office/drawing/2014/main" id="{B095D555-B30F-7A4A-5EE2-0DD6CAC79C8E}"/>
              </a:ext>
            </a:extLst>
          </p:cNvPr>
          <p:cNvSpPr txBox="1"/>
          <p:nvPr/>
        </p:nvSpPr>
        <p:spPr>
          <a:xfrm>
            <a:off x="6096000" y="3663950"/>
            <a:ext cx="604520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 4: How to select </a:t>
            </a:r>
            <a:r>
              <a:rPr lang="el-GR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l-GR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τ</a:t>
            </a:r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Answer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l-GR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too small, queries are over-decomposed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l-GR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too large, queries are rarely decomposed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τ is too small, larger residuals weaken </a:t>
            </a:r>
            <a:r>
              <a:rPr lang="el-GR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’s gain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τ is too large, smaller residuals slow convergence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41576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E88148-6243-3F81-592A-012B6692D5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93EC19DA-5C9E-A0EA-A9C6-62B05E060A22}"/>
              </a:ext>
            </a:extLst>
          </p:cNvPr>
          <p:cNvSpPr txBox="1"/>
          <p:nvPr/>
        </p:nvSpPr>
        <p:spPr>
          <a:xfrm>
            <a:off x="144379" y="72189"/>
            <a:ext cx="29290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Result Analysis</a:t>
            </a:r>
            <a:endParaRPr lang="zh-CN" altLang="en-US" sz="320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2842F75-367F-1F96-EA98-0282B4A0F8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0334" y="1005175"/>
            <a:ext cx="4290638" cy="3281076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FEF76699-5BBE-45CD-053E-77475FD1D032}"/>
              </a:ext>
            </a:extLst>
          </p:cNvPr>
          <p:cNvSpPr txBox="1"/>
          <p:nvPr/>
        </p:nvSpPr>
        <p:spPr>
          <a:xfrm>
            <a:off x="406400" y="4812447"/>
            <a:ext cx="533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POQD introduced minimal additional time overhead, aligning with the earlier part that it can be seamlessly integrated into RAG</a:t>
            </a:r>
            <a:endParaRPr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51E97417-B4FA-6A70-0B32-C7798EE95C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6390" y="1792574"/>
            <a:ext cx="3237505" cy="2163476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11605AAA-0A33-2620-9307-9F289FA2A6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53895" y="1746217"/>
            <a:ext cx="2930737" cy="2209833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56C6C063-C170-FE78-11FA-0BFAB0C55305}"/>
                  </a:ext>
                </a:extLst>
              </p:cNvPr>
              <p:cNvSpPr txBox="1"/>
              <p:nvPr/>
            </p:nvSpPr>
            <p:spPr>
              <a:xfrm>
                <a:off x="6178550" y="4812447"/>
                <a:ext cx="5803900" cy="13542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l-GR" altLang="zh-C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α</a:t>
                </a:r>
                <a:r>
                  <a:rPr lang="en-US" altLang="zh-C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too big, underfitting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l-GR" altLang="zh-C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α</a:t>
                </a:r>
                <a:r>
                  <a:rPr lang="en-US" altLang="zh-C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too small, converge slowly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zh-CN" altLang="en-US" sz="160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𝜏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=3</m:t>
                    </m:r>
                  </m:oMath>
                </a14:m>
                <a:r>
                  <a:rPr lang="en-US" altLang="zh-C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making balance between time and performance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altLang="zh-CN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zh-CN" altLang="en-US" dirty="0"/>
              </a:p>
            </p:txBody>
          </p:sp>
        </mc:Choice>
        <mc:Fallback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56C6C063-C170-FE78-11FA-0BFAB0C553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8550" y="4812447"/>
                <a:ext cx="5803900" cy="1354217"/>
              </a:xfrm>
              <a:prstGeom prst="rect">
                <a:avLst/>
              </a:prstGeom>
              <a:blipFill>
                <a:blip r:embed="rId5"/>
                <a:stretch>
                  <a:fillRect l="-420" t="-134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10253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012B44-7E51-BD30-381A-6AB986573A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AAFC9D80-8BB5-1D67-592D-FB067244E2F2}"/>
              </a:ext>
            </a:extLst>
          </p:cNvPr>
          <p:cNvSpPr txBox="1"/>
          <p:nvPr/>
        </p:nvSpPr>
        <p:spPr>
          <a:xfrm>
            <a:off x="144379" y="72189"/>
            <a:ext cx="29290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Result Analysis</a:t>
            </a:r>
            <a:endParaRPr lang="zh-CN" altLang="en-US" sz="320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B1A950F-5359-74EE-E8AF-5996C8DFBA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569" y="1415087"/>
            <a:ext cx="6449431" cy="4027825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09F4ED13-3FF0-05EF-5FEF-8510F81F1FC7}"/>
              </a:ext>
            </a:extLst>
          </p:cNvPr>
          <p:cNvSpPr txBox="1"/>
          <p:nvPr/>
        </p:nvSpPr>
        <p:spPr>
          <a:xfrm>
            <a:off x="6959600" y="1778000"/>
            <a:ext cx="498475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 SOTA, but: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good in high-noise and cross-modal reference settings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Underperforms on short-length queries and unstructured data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BBFA1F0-AE3D-60EC-97C9-544C4BA466F2}"/>
              </a:ext>
            </a:extLst>
          </p:cNvPr>
          <p:cNvSpPr txBox="1"/>
          <p:nvPr/>
        </p:nvSpPr>
        <p:spPr>
          <a:xfrm>
            <a:off x="6959600" y="3549650"/>
            <a:ext cx="49847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Sometimes, generator only can achieve good performance</a:t>
            </a:r>
          </a:p>
          <a:p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don’t set </a:t>
            </a:r>
            <a:r>
              <a:rPr lang="en-US" altLang="zh-C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Hit@n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 </a:t>
            </a:r>
            <a:r>
              <a:rPr lang="en-US" altLang="zh-C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StrategyQA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59982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0F93D6-0477-3EBA-8BCE-043CDABC1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10AF9EA7-F700-93EC-332E-894D0BEACF90}"/>
              </a:ext>
            </a:extLst>
          </p:cNvPr>
          <p:cNvSpPr txBox="1"/>
          <p:nvPr/>
        </p:nvSpPr>
        <p:spPr>
          <a:xfrm>
            <a:off x="144379" y="72189"/>
            <a:ext cx="29671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Pros and Cons</a:t>
            </a:r>
            <a:endParaRPr lang="zh-CN" altLang="en-US" sz="320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0002F91-1C2B-54AF-63C4-7746FD88E52C}"/>
              </a:ext>
            </a:extLst>
          </p:cNvPr>
          <p:cNvSpPr txBox="1"/>
          <p:nvPr/>
        </p:nvSpPr>
        <p:spPr>
          <a:xfrm>
            <a:off x="285750" y="2397948"/>
            <a:ext cx="627380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Pros</a:t>
            </a:r>
          </a:p>
          <a:p>
            <a:pPr marL="342900" indent="-342900">
              <a:buAutoNum type="arabicPeriod"/>
            </a:pP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Decomposition costs few time, can be seamlessly integrated in RAG</a:t>
            </a:r>
          </a:p>
          <a:p>
            <a:pPr marL="342900" indent="-342900">
              <a:buAutoNum type="arabicPeriod"/>
            </a:pP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whole experiments are comprehensive and convincing</a:t>
            </a:r>
          </a:p>
          <a:p>
            <a:pPr marL="342900" indent="-342900">
              <a:buAutoNum type="arabicPeriod"/>
            </a:pP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Coarser-grain matching is awesome</a:t>
            </a:r>
          </a:p>
          <a:p>
            <a:pPr marL="342900" indent="-342900">
              <a:buAutoNum type="arabicPeriod"/>
            </a:pP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Theoretical analysis provides formal convergency guarantees</a:t>
            </a:r>
          </a:p>
          <a:p>
            <a:pPr marL="342900" indent="-342900">
              <a:buAutoNum type="arabicPeriod"/>
            </a:pP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Interpretability and controllability, LLM as planner</a:t>
            </a:r>
          </a:p>
          <a:p>
            <a:pPr marL="342900" indent="-342900">
              <a:buAutoNum type="arabicPeriod"/>
            </a:pP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Unified the framework for multimodal queries</a:t>
            </a:r>
          </a:p>
          <a:p>
            <a:pPr marL="342900" indent="-342900">
              <a:buAutoNum type="arabicPeriod"/>
            </a:pPr>
            <a:endParaRPr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E802551-DD81-EF42-E5E2-5F1945D5345B}"/>
              </a:ext>
            </a:extLst>
          </p:cNvPr>
          <p:cNvSpPr txBox="1"/>
          <p:nvPr/>
        </p:nvSpPr>
        <p:spPr>
          <a:xfrm>
            <a:off x="7150100" y="2397948"/>
            <a:ext cx="49022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</a:t>
            </a:r>
          </a:p>
          <a:p>
            <a:pPr marL="342900" indent="-342900">
              <a:buAutoNum type="arabicPeriod"/>
            </a:pP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Short on visual sub-queries examples</a:t>
            </a:r>
          </a:p>
          <a:p>
            <a:pPr marL="342900" indent="-342900">
              <a:buAutoNum type="arabicPeriod"/>
            </a:pP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Sub-queries hallucination</a:t>
            </a:r>
          </a:p>
          <a:p>
            <a:pPr marL="342900" indent="-342900">
              <a:buAutoNum type="arabicPeriod"/>
            </a:pP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Lacks 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Hit@n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StrategyQA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task</a:t>
            </a:r>
          </a:p>
          <a:p>
            <a:pPr marL="342900" indent="-342900">
              <a:buAutoNum type="arabicPeriod"/>
            </a:pP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Completely ignore the retriever parameter</a:t>
            </a:r>
          </a:p>
          <a:p>
            <a:pPr marL="342900" indent="-342900">
              <a:buAutoNum type="arabicPeriod"/>
            </a:pP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Heavily rely on powerful LLM</a:t>
            </a:r>
          </a:p>
          <a:p>
            <a:pPr marL="342900" indent="-342900">
              <a:buAutoNum type="arabicPeriod"/>
            </a:pP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Evals on Top-k and re-rank, more metrics</a:t>
            </a:r>
          </a:p>
        </p:txBody>
      </p:sp>
    </p:spTree>
    <p:extLst>
      <p:ext uri="{BB962C8B-B14F-4D97-AF65-F5344CB8AC3E}">
        <p14:creationId xmlns:p14="http://schemas.microsoft.com/office/powerpoint/2010/main" val="20262344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464</TotalTime>
  <Words>612</Words>
  <Application>Microsoft Office PowerPoint</Application>
  <PresentationFormat>宽屏</PresentationFormat>
  <Paragraphs>114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2" baseType="lpstr">
      <vt:lpstr>Arial</vt:lpstr>
      <vt:lpstr>Calibri</vt:lpstr>
      <vt:lpstr>Cambria Math</vt:lpstr>
      <vt:lpstr>Times New Roman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于天奇</dc:creator>
  <cp:lastModifiedBy>天奇 于</cp:lastModifiedBy>
  <cp:revision>2</cp:revision>
  <dcterms:created xsi:type="dcterms:W3CDTF">2025-10-21T13:30:15Z</dcterms:created>
  <dcterms:modified xsi:type="dcterms:W3CDTF">2025-10-21T21:14:28Z</dcterms:modified>
</cp:coreProperties>
</file>